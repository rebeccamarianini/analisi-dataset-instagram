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71" autoAdjust="0"/>
    <p:restoredTop sz="86405" autoAdjust="0"/>
  </p:normalViewPr>
  <p:slideViewPr>
    <p:cSldViewPr snapToGrid="0">
      <p:cViewPr varScale="1">
        <p:scale>
          <a:sx n="75" d="100"/>
          <a:sy n="75" d="100"/>
        </p:scale>
        <p:origin x="77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A863B-C2FA-4E10-990E-0AAD1E92C47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EEF9-7790-4CAA-857D-3EF23F4F47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012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EEF9-7790-4CAA-857D-3EF23F4F471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52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D0B13B-1685-433F-7E61-2045F3625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5356D2-7515-D14C-F38B-1EBA401CC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C05B9B-8127-04C5-EA54-D139035E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9AE10F-4030-D7FE-178D-952F665A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C99C2D-28FC-4427-51DA-A028047A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814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6970C8-8BDD-CBD7-03FA-88E1F8BB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4B3A08-8902-9776-0E3D-7EA180231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51CDD9-4411-F588-6026-A9B597A4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263446-A318-2A79-CDD3-A8B794E0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D729BC-FA9E-C7E8-8A0C-ECCEFB62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05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58DEEB-42B5-4809-16F5-36979962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E97CD6-7DE9-C969-762D-88D15AFD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C8F4CD-8480-44F9-2461-DBAD145B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D18A08-7AEC-AB62-721B-3E8AF610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077D37-7CC8-7BAE-014E-0C30782E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322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0A6507-1565-A3CF-F345-569C4867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053FEB-3DCA-6705-D0A2-02EF43B10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36BC69-4898-D9C8-7055-BA52059B4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9D5B6D-49BC-9D27-EB6E-CF50BCC2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64420B-9071-D4C8-C5B8-0F10EE3F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A21D5F-210A-027E-F45F-D2452BF7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646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C14D4-CB90-5378-D2F7-558D961B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E51B546-EBE8-30A7-F7A1-7FD5A941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9E99DA-344B-DC15-4FB8-995BC09C8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1A1CD18-5E67-F3D2-472C-ED8F3998D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A5AD4E-2CF3-BBA1-55E5-AF107BA22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AE6A0DE-5E66-4C6C-C8AC-69B20B26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410846-F541-1812-3D2E-AC487DD7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CDA48-9AB7-E760-E152-46BF1FBD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090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AF25F-0359-84DA-658F-503AA5F3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794ED63-5821-E86B-4355-94E604D7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FED2EDA-BB2C-A462-6D80-B266CB5B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4C4F02-71B1-CB99-22EC-31B341E7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77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115ED1D-0DBA-9405-FD50-6100BCFD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82D3EA7-4E9F-06A5-3B98-0C6991E6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2C8468-2BB8-B1DF-950C-FEE7BABB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790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4C8A85-C758-D065-D6E4-6339AE19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E406A9-8885-DB9C-76BF-D62A7551D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E8CEC0-4F51-F3F5-86ED-DC6CB9B2C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BC1150-4A1B-000E-3E0B-FB2D7CF9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FCCD54-C77E-BB0F-587B-54ECBCBC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01EEC6-A80A-D003-F66D-BC1522A3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2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9A01E0-60B9-2B3F-98CB-B826649E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9494D1F-F59A-8A0C-257E-463F5F756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DB2AD9-346D-857B-A8BD-D10D7A89F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09FBB7-AEB3-4880-12D8-287051C3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C2216F-0171-544B-60D9-28B97E3D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95F720-E166-43C2-481F-0942BCFF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676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F6979-3DBA-0746-BD27-77AD4999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DB595A-AA65-A8C4-68CD-26A116B6E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8CEF2D-7D48-413D-0A7A-F6AECDEA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AA78F1-7D11-D741-043F-D2F7BA71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C5F039-062D-C166-4925-B19338D8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87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1D7D0F2-23B2-1BF2-CC74-60283EF57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5995046-03BC-659C-554A-936518658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E40354-797F-4C28-C75E-07A3CD09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E69975-4843-2836-D562-A868A6A1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D4B991-319C-BAEF-877A-C4572B34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347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09B300-CA48-31CD-36B4-BCDF47B7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E1D45F-2274-C9C2-5EBD-48F185C7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F0178F-0E08-5AF8-C423-FE6930ECE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389F2-4CCC-4562-B82C-29005BBE570D}" type="datetimeFigureOut">
              <a:rPr lang="it-IT" smtClean="0"/>
              <a:t>19/06/2026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4F1132-E9C8-89B5-7902-CD23D6B57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70EC65-90DD-6137-93AE-E863254C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36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031D2-17E9-EC09-B930-A1D8694C0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796412"/>
            <a:ext cx="12044516" cy="2261420"/>
          </a:xfrm>
        </p:spPr>
        <p:txBody>
          <a:bodyPr>
            <a:noAutofit/>
          </a:bodyPr>
          <a:lstStyle/>
          <a:p>
            <a:r>
              <a:rPr lang="it-IT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TRACCE DIGITALI DI UNA STORIA PERSONALE</a:t>
            </a:r>
            <a:br>
              <a:rPr lang="it-IT" sz="4000" dirty="0"/>
            </a:br>
            <a:br>
              <a:rPr lang="it-IT" sz="4000" dirty="0"/>
            </a:br>
            <a:r>
              <a:rPr lang="it-IT" sz="28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ANALISI DEI METADATI INSTAGRAM DAL 2014 AL 2026</a:t>
            </a:r>
            <a:br>
              <a:rPr lang="it-IT" sz="3600" dirty="0"/>
            </a:br>
            <a:endParaRPr lang="it-IT" sz="2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2911D05-B0D0-BE65-133E-1C2B164BD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3904"/>
            <a:ext cx="9144000" cy="1655762"/>
          </a:xfrm>
        </p:spPr>
        <p:txBody>
          <a:bodyPr>
            <a:normAutofit/>
          </a:bodyPr>
          <a:lstStyle/>
          <a:p>
            <a:r>
              <a:rPr lang="it-IT" sz="2800" dirty="0"/>
              <a:t>Rebecca Marianini</a:t>
            </a:r>
          </a:p>
          <a:p>
            <a:r>
              <a:rPr lang="it-IT" dirty="0"/>
              <a:t>MATRICOLA : </a:t>
            </a:r>
            <a:r>
              <a:rPr lang="it-IT" sz="2800" dirty="0"/>
              <a:t>179905 IBML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2042EA3-6489-FEC3-8AB6-FCF273DE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94" y="3289130"/>
            <a:ext cx="749873" cy="74987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D61970D-B789-D766-048F-8E3202801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6" t="6341" r="8077" b="7956"/>
          <a:stretch>
            <a:fillRect/>
          </a:stretch>
        </p:blipFill>
        <p:spPr>
          <a:xfrm>
            <a:off x="6490856" y="3289130"/>
            <a:ext cx="749873" cy="768208"/>
          </a:xfrm>
          <a:prstGeom prst="roundRect">
            <a:avLst/>
          </a:prstGeom>
        </p:spPr>
      </p:pic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EC83BFB8-AD84-A094-98CD-48CB70A718A9}"/>
              </a:ext>
            </a:extLst>
          </p:cNvPr>
          <p:cNvSpPr/>
          <p:nvPr/>
        </p:nvSpPr>
        <p:spPr>
          <a:xfrm>
            <a:off x="5892869" y="3584943"/>
            <a:ext cx="406261" cy="2152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88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B81212-A122-8BF7-2B1E-54D459E8584E}"/>
              </a:ext>
            </a:extLst>
          </p:cNvPr>
          <p:cNvSpPr txBox="1"/>
          <p:nvPr/>
        </p:nvSpPr>
        <p:spPr>
          <a:xfrm>
            <a:off x="2542606" y="423232"/>
            <a:ext cx="682022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UTILIZZATO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  <a:p>
            <a:endParaRPr lang="it-IT" sz="3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C6077B-6AE5-6488-7734-24456C58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50" y="1564819"/>
            <a:ext cx="2302081" cy="93568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1619691-70C7-8AE8-2685-ECA1A436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27" y="2561223"/>
            <a:ext cx="3222704" cy="246834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7F1E58-2C50-06CB-931B-42B8778EDDAC}"/>
              </a:ext>
            </a:extLst>
          </p:cNvPr>
          <p:cNvSpPr txBox="1"/>
          <p:nvPr/>
        </p:nvSpPr>
        <p:spPr>
          <a:xfrm>
            <a:off x="1414462" y="1600477"/>
            <a:ext cx="724746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FONTE : </a:t>
            </a:r>
            <a:r>
              <a:rPr lang="it-IT" sz="2400" dirty="0"/>
              <a:t>Esportazione dati Instagram </a:t>
            </a:r>
          </a:p>
          <a:p>
            <a:endParaRPr lang="it-IT" sz="2400" dirty="0"/>
          </a:p>
          <a:p>
            <a:r>
              <a:rPr lang="it-IT" sz="2000" dirty="0"/>
              <a:t>PERIODO:  </a:t>
            </a:r>
            <a:r>
              <a:rPr lang="it-IT" sz="2400" dirty="0"/>
              <a:t>Dal 2014 al 2026 </a:t>
            </a:r>
          </a:p>
          <a:p>
            <a:endParaRPr lang="it-IT" sz="2000" dirty="0"/>
          </a:p>
          <a:p>
            <a:r>
              <a:rPr lang="it-IT" sz="2000" dirty="0"/>
              <a:t>ELEMENTI ANALIZZATI: 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Messaggi diretti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Like ai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Post salvati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Follower acquisiti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C771A6-D2FF-A8A4-F03E-15B100CF167F}"/>
              </a:ext>
            </a:extLst>
          </p:cNvPr>
          <p:cNvSpPr txBox="1"/>
          <p:nvPr/>
        </p:nvSpPr>
        <p:spPr>
          <a:xfrm>
            <a:off x="917573" y="5924737"/>
            <a:ext cx="10356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12 anni di attività  •  oltre 100.000 messaggi  •  circa 20.000 follower  •  migliaia di interazioni</a:t>
            </a:r>
          </a:p>
        </p:txBody>
      </p:sp>
    </p:spTree>
    <p:extLst>
      <p:ext uri="{BB962C8B-B14F-4D97-AF65-F5344CB8AC3E}">
        <p14:creationId xmlns:p14="http://schemas.microsoft.com/office/powerpoint/2010/main" val="24467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3EB2C8F-B58E-D466-53DC-87A8CBF22467}"/>
              </a:ext>
            </a:extLst>
          </p:cNvPr>
          <p:cNvSpPr txBox="1"/>
          <p:nvPr/>
        </p:nvSpPr>
        <p:spPr>
          <a:xfrm>
            <a:off x="1476376" y="1343025"/>
            <a:ext cx="129159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 SI EVOLVE L’ATTIVITA’ DI MESSAGGISTICA SU INSTAGRAM NEL CORSO DEGLI ANNI?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METADATI POSSONO RIVELARE EVENTI COLLETTIVI O CAMBIAMENTI INDIVIDUALI?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 SI E’ EVOLUTO L’UTILIZZO DELLA PIATTAFORMA OLTRE ALLA MESSAGGISTICA?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PUBBLICARE DI PIU’ SIGNIFICA OTTENERE PIU’ FOLLOWERS?</a:t>
            </a:r>
          </a:p>
          <a:p>
            <a:endParaRPr lang="it-IT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BD3CADF-4D68-A1BA-6337-19314091D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37" y="1230635"/>
            <a:ext cx="1009650" cy="6731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1E139D2-4A95-441A-747D-E60D3DBA6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12" y="3587870"/>
            <a:ext cx="1133475" cy="75565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706520F-8ABB-18A0-06D8-4A8DC718C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23" y="2450080"/>
            <a:ext cx="1009649" cy="673099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AAE276F-F1E8-13FF-CF39-7D5DAFD6A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10" y="4807314"/>
            <a:ext cx="1133477" cy="755651"/>
          </a:xfrm>
          <a:prstGeom prst="rect">
            <a:avLst/>
          </a:prstGeom>
        </p:spPr>
      </p:pic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9695D7E-C9E6-1A3D-4E2A-3698B34CDC5F}"/>
              </a:ext>
            </a:extLst>
          </p:cNvPr>
          <p:cNvSpPr/>
          <p:nvPr/>
        </p:nvSpPr>
        <p:spPr>
          <a:xfrm>
            <a:off x="678662" y="1229738"/>
            <a:ext cx="11006126" cy="755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96424421-0B8B-D8F9-7ED2-28583C14B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2399499"/>
            <a:ext cx="11028620" cy="77425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ACFA96FD-9D30-D8BA-0B96-A510E7039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3578565"/>
            <a:ext cx="11028620" cy="774259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CC78CE1B-D1C8-17A9-86E2-203D26F31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4807314"/>
            <a:ext cx="11028620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2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1CED299-E514-5C5F-97F8-1584D5E9F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6"/>
          <a:stretch>
            <a:fillRect/>
          </a:stretch>
        </p:blipFill>
        <p:spPr>
          <a:xfrm>
            <a:off x="1993952" y="1245084"/>
            <a:ext cx="8204095" cy="436783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81736EC-DA4C-D8AD-08E1-BB2A3C40BE52}"/>
              </a:ext>
            </a:extLst>
          </p:cNvPr>
          <p:cNvSpPr txBox="1"/>
          <p:nvPr/>
        </p:nvSpPr>
        <p:spPr>
          <a:xfrm>
            <a:off x="133350" y="486370"/>
            <a:ext cx="1230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COME SI EVOLVE L’ATTIVITA’ DI MESSAGGISTICA SU INSTAGRAM NEL CORSO DEGLI ANNI?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FE1FAE-19EE-40CA-0030-8F84E2D0E87D}"/>
              </a:ext>
            </a:extLst>
          </p:cNvPr>
          <p:cNvSpPr txBox="1"/>
          <p:nvPr/>
        </p:nvSpPr>
        <p:spPr>
          <a:xfrm>
            <a:off x="190500" y="58229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✓ L'andamento della messaggistica non segue una crescita costante, ma presenta picchi e cali significativi.</a:t>
            </a:r>
          </a:p>
          <a:p>
            <a:endParaRPr lang="it-IT" dirty="0"/>
          </a:p>
          <a:p>
            <a:r>
              <a:rPr lang="it-IT" dirty="0"/>
              <a:t>✓ Queste variazioni suggeriscono la presenza di fattori esterni e personali che verranno analizzati nelle slide successive</a:t>
            </a:r>
          </a:p>
        </p:txBody>
      </p:sp>
    </p:spTree>
    <p:extLst>
      <p:ext uri="{BB962C8B-B14F-4D97-AF65-F5344CB8AC3E}">
        <p14:creationId xmlns:p14="http://schemas.microsoft.com/office/powerpoint/2010/main" val="148966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137681-26DD-296B-342B-BFE52E9F7E69}"/>
              </a:ext>
            </a:extLst>
          </p:cNvPr>
          <p:cNvSpPr txBox="1"/>
          <p:nvPr/>
        </p:nvSpPr>
        <p:spPr>
          <a:xfrm>
            <a:off x="409575" y="175997"/>
            <a:ext cx="116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I METADATI POSSONO RIVELARE EVENTI COLLETTIVI O CAMBIAMENTI INDIVIDUALI?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577769-3950-80F2-292B-4063DD03C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" t="12238" r="6099" b="8257"/>
          <a:stretch>
            <a:fillRect/>
          </a:stretch>
        </p:blipFill>
        <p:spPr>
          <a:xfrm>
            <a:off x="2359675" y="746427"/>
            <a:ext cx="7472647" cy="427566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22ABF1-529E-179D-66FB-157D5CFF02E6}"/>
              </a:ext>
            </a:extLst>
          </p:cNvPr>
          <p:cNvSpPr txBox="1"/>
          <p:nvPr/>
        </p:nvSpPr>
        <p:spPr>
          <a:xfrm>
            <a:off x="1493386" y="5076476"/>
            <a:ext cx="11593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✓  Picco di attività nel mese di aprile 2020</a:t>
            </a:r>
          </a:p>
          <a:p>
            <a:r>
              <a:rPr lang="it-IT" sz="2000" dirty="0"/>
              <a:t>✓  Riduzione dell'attività nel periodo successivo</a:t>
            </a:r>
          </a:p>
          <a:p>
            <a:r>
              <a:rPr lang="it-IT" sz="2000" dirty="0"/>
              <a:t>✓  Progressiva ripresa a luglio 2022</a:t>
            </a:r>
          </a:p>
          <a:p>
            <a:r>
              <a:rPr lang="it-IT" sz="2000" dirty="0"/>
              <a:t>✓I metadati evidenziano pattern compatibili con dinamiche sociali e abitudini personali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C7E105-0C16-DF6D-B6B9-565908F91235}"/>
              </a:ext>
            </a:extLst>
          </p:cNvPr>
          <p:cNvSpPr txBox="1"/>
          <p:nvPr/>
        </p:nvSpPr>
        <p:spPr>
          <a:xfrm>
            <a:off x="1696810" y="6454298"/>
            <a:ext cx="904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/>
              <a:t>LA DIMINUZIONE DELL’ INVIO DI MESSAGGI RAPPRESENTA DAVVERO UN MINOR UTILIZZO DELLA PIATTAFORMA?</a:t>
            </a:r>
          </a:p>
        </p:txBody>
      </p:sp>
    </p:spTree>
    <p:extLst>
      <p:ext uri="{BB962C8B-B14F-4D97-AF65-F5344CB8AC3E}">
        <p14:creationId xmlns:p14="http://schemas.microsoft.com/office/powerpoint/2010/main" val="347885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6819F0-BBB9-4E53-518D-67C64AC17A6C}"/>
              </a:ext>
            </a:extLst>
          </p:cNvPr>
          <p:cNvSpPr txBox="1"/>
          <p:nvPr/>
        </p:nvSpPr>
        <p:spPr>
          <a:xfrm>
            <a:off x="204784" y="99416"/>
            <a:ext cx="1178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COME SI E’ EVOLUTO L’UTILIZZO DELLA PIATTAFORMA OLTRE ALLA MESSAGGISTICA?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8A822B6-31B5-215A-39BD-C3F4C5E75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" r="933"/>
          <a:stretch>
            <a:fillRect/>
          </a:stretch>
        </p:blipFill>
        <p:spPr>
          <a:xfrm>
            <a:off x="84362" y="645804"/>
            <a:ext cx="5889257" cy="341722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17FBE02-7C5A-C77E-E560-35AD4361E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6" y="645805"/>
            <a:ext cx="6011635" cy="341722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DB23FB5-07D8-066E-F946-1C4038137256}"/>
              </a:ext>
            </a:extLst>
          </p:cNvPr>
          <p:cNvSpPr txBox="1"/>
          <p:nvPr/>
        </p:nvSpPr>
        <p:spPr>
          <a:xfrm>
            <a:off x="168728" y="4373891"/>
            <a:ext cx="12023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✓ Il 2021 rappresenta il punto di minima attività complessiva dell'intera serie storica</a:t>
            </a:r>
          </a:p>
          <a:p>
            <a:endParaRPr lang="it-IT" dirty="0"/>
          </a:p>
          <a:p>
            <a:r>
              <a:rPr lang="it-IT" dirty="0"/>
              <a:t>✓La riduzione della messaggistica non coincide necessariamente con una diminuzione dell'utilizzo della piattaforma</a:t>
            </a:r>
          </a:p>
          <a:p>
            <a:endParaRPr lang="it-IT" dirty="0"/>
          </a:p>
          <a:p>
            <a:r>
              <a:rPr lang="it-IT" dirty="0"/>
              <a:t>✓ La ripresa della messaggistica nel 2022 non coincide immediatamente con una ripresa delle altre forme di interazione</a:t>
            </a:r>
          </a:p>
          <a:p>
            <a:endParaRPr lang="it-IT" dirty="0"/>
          </a:p>
          <a:p>
            <a:r>
              <a:rPr lang="it-IT" dirty="0"/>
              <a:t>✓ Nel biennio 2024-2025 si registra una crescita simultanea delle principali metriche analizzate</a:t>
            </a:r>
          </a:p>
        </p:txBody>
      </p:sp>
    </p:spTree>
    <p:extLst>
      <p:ext uri="{BB962C8B-B14F-4D97-AF65-F5344CB8AC3E}">
        <p14:creationId xmlns:p14="http://schemas.microsoft.com/office/powerpoint/2010/main" val="187176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3451175-74CF-F051-94D2-BB2CB36B7B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" r="598"/>
          <a:stretch>
            <a:fillRect/>
          </a:stretch>
        </p:blipFill>
        <p:spPr>
          <a:xfrm>
            <a:off x="6204857" y="1234484"/>
            <a:ext cx="5762627" cy="303679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00DDAD-7621-BBBA-F66E-B4A0B5525C2C}"/>
              </a:ext>
            </a:extLst>
          </p:cNvPr>
          <p:cNvSpPr txBox="1"/>
          <p:nvPr/>
        </p:nvSpPr>
        <p:spPr>
          <a:xfrm>
            <a:off x="1777788" y="387805"/>
            <a:ext cx="8854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PUBBLICARE DI PIU’ SIGNIFICA OTTENERE PIU’ FOLLOWERS?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2F30E1-E86B-CF5B-59FD-DF06A342851E}"/>
              </a:ext>
            </a:extLst>
          </p:cNvPr>
          <p:cNvSpPr txBox="1"/>
          <p:nvPr/>
        </p:nvSpPr>
        <p:spPr>
          <a:xfrm>
            <a:off x="257175" y="4438870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r>
              <a:rPr lang="it-IT" dirty="0"/>
              <a:t>✓ Gli anni con il maggior numero di post non corrispondono agli anni di maggiore crescita del profilo</a:t>
            </a:r>
          </a:p>
          <a:p>
            <a:endParaRPr lang="it-IT" dirty="0"/>
          </a:p>
          <a:p>
            <a:r>
              <a:rPr lang="it-IT" dirty="0"/>
              <a:t>✓ Il picco di acquisizione dei follower si registra nel 2025-2026, nonostante la pubblicazione di pochi contenuti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68B374C-B9F3-4BBC-555D-BE0973BCA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" y="1234485"/>
            <a:ext cx="6015652" cy="30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9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23C514-E287-4544-1E50-DCB6BE1C61D7}"/>
              </a:ext>
            </a:extLst>
          </p:cNvPr>
          <p:cNvSpPr txBox="1"/>
          <p:nvPr/>
        </p:nvSpPr>
        <p:spPr>
          <a:xfrm>
            <a:off x="4246389" y="149625"/>
            <a:ext cx="3699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CONCLUSIONI </a:t>
            </a:r>
            <a:r>
              <a:rPr lang="it-IT" sz="2400" dirty="0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3648072-BECD-0F98-382E-4CF855B8FF01}"/>
              </a:ext>
            </a:extLst>
          </p:cNvPr>
          <p:cNvSpPr txBox="1"/>
          <p:nvPr/>
        </p:nvSpPr>
        <p:spPr>
          <a:xfrm>
            <a:off x="255638" y="652525"/>
            <a:ext cx="1168072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Nel mio caso l’analisi del Dataset rivela pattern compatibili con eventi collettivi e cambiamenti individuali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Il calo di messaggistica non corrisponde realmente al non utilizzo della piattaforma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I picchi di interazioni generali corrispondono ad un effettivo aumento dei followers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Allo </a:t>
            </a:r>
            <a:r>
              <a:rPr lang="it-IT" sz="2000"/>
              <a:t>stesso tempo, non </a:t>
            </a:r>
            <a:r>
              <a:rPr lang="it-IT" sz="2000" dirty="0"/>
              <a:t>è esclusivamente il quantitativo di contenuti pubblicati a fare la differenza ma la qualità dei post sembra essere associata a una maggiore acquisizione di followers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B579B84-F681-9E27-6178-DE3224104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065" y="3978296"/>
            <a:ext cx="2979868" cy="2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50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AEA06781D8F24FBD693392724D0656" ma:contentTypeVersion="4" ma:contentTypeDescription="Creare un nuovo documento." ma:contentTypeScope="" ma:versionID="f6714d83313bfb95634d92625086968d">
  <xsd:schema xmlns:xsd="http://www.w3.org/2001/XMLSchema" xmlns:xs="http://www.w3.org/2001/XMLSchema" xmlns:p="http://schemas.microsoft.com/office/2006/metadata/properties" xmlns:ns3="e8e17f5b-ad2f-4244-ad69-09c28d6a1c1e" targetNamespace="http://schemas.microsoft.com/office/2006/metadata/properties" ma:root="true" ma:fieldsID="b9d8f4920c2f619c82799f0c4989cb9f" ns3:_="">
    <xsd:import namespace="e8e17f5b-ad2f-4244-ad69-09c28d6a1c1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17f5b-ad2f-4244-ad69-09c28d6a1c1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2A722D-0F8E-4AAD-90EE-A4C58E0C7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e17f5b-ad2f-4244-ad69-09c28d6a1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AB0E77-0BA0-49AB-BBD2-FEBA07673A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968A1B-F09D-4D90-8199-E6C14F6BE0B4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e8e17f5b-ad2f-4244-ad69-09c28d6a1c1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8392</TotalTime>
  <Words>403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TRACCE DIGITALI DI UNA STORIA PERSONALE  ANALISI DEI METADATI INSTAGRAM DAL 2014 AL 2026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Marianini</dc:creator>
  <cp:lastModifiedBy>Rebecca Marianini</cp:lastModifiedBy>
  <cp:revision>3</cp:revision>
  <dcterms:created xsi:type="dcterms:W3CDTF">2026-06-06T16:51:25Z</dcterms:created>
  <dcterms:modified xsi:type="dcterms:W3CDTF">2026-06-19T11:38:37Z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0x010100D9AEA06781D8F24FBD693392724D0656</vt:lpwstr>
  </property>
</Properties>
</file>