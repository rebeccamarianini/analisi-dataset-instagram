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C6E3BD-8129-4769-83C2-D583B61A8199}" v="224" dt="2026-06-18T19:41:39.8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34571" autoAdjust="0"/>
    <p:restoredTop sz="86405" autoAdjust="0"/>
  </p:normalViewPr>
  <p:slideViewPr>
    <p:cSldViewPr snapToGrid="0">
      <p:cViewPr varScale="1">
        <p:scale>
          <a:sx n="75" d="100"/>
          <a:sy n="75" d="100"/>
        </p:scale>
        <p:origin x="77" y="2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2A863B-C2FA-4E10-990E-0AAD1E92C47D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AEEF9-7790-4CAA-857D-3EF23F4F471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0126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AEEF9-7790-4CAA-857D-3EF23F4F4713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6522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D0B13B-1685-433F-7E61-2045F3625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55356D2-7515-D14C-F38B-1EBA401CC8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FC05B9B-8127-04C5-EA54-D139035EA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89F2-4CCC-4562-B82C-29005BBE570D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D9AE10F-4030-D7FE-178D-952F665AA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3C99C2D-28FC-4427-51DA-A028047AD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CAB7A-9A00-4A27-9FC2-8EA686644F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8141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6970C8-8BDD-CBD7-03FA-88E1F8BBE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D4B3A08-8902-9776-0E3D-7EA180231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251CDD9-4411-F588-6026-A9B597A40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89F2-4CCC-4562-B82C-29005BBE570D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2263446-A318-2A79-CDD3-A8B794E00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D729BC-FA9E-C7E8-8A0C-ECCEFB627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CAB7A-9A00-4A27-9FC2-8EA686644F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8054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58DEEB-42B5-4809-16F5-36979962F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E97CD6-7DE9-C969-762D-88D15AFD1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BC8F4CD-8480-44F9-2461-DBAD145BD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89F2-4CCC-4562-B82C-29005BBE570D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D18A08-7AEC-AB62-721B-3E8AF6101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C077D37-7CC8-7BAE-014E-0C30782E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CAB7A-9A00-4A27-9FC2-8EA686644F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3228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0A6507-1565-A3CF-F345-569C48671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D053FEB-3DCA-6705-D0A2-02EF43B10A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336BC69-4898-D9C8-7055-BA52059B4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39D5B6D-49BC-9D27-EB6E-CF50BCC21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89F2-4CCC-4562-B82C-29005BBE570D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164420B-9071-D4C8-C5B8-0F10EE3F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1A21D5F-210A-027E-F45F-D2452BF71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CAB7A-9A00-4A27-9FC2-8EA686644F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6464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AC14D4-CB90-5378-D2F7-558D961B3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E51B546-EBE8-30A7-F7A1-7FD5A9411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99E99DA-344B-DC15-4FB8-995BC09C8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1A1CD18-5E67-F3D2-472C-ED8F3998DC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3A5AD4E-2CF3-BBA1-55E5-AF107BA22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AE6A0DE-5E66-4C6C-C8AC-69B20B26A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89F2-4CCC-4562-B82C-29005BBE570D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B410846-F541-1812-3D2E-AC487DD74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01CDA48-9AB7-E760-E152-46BF1FBD3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CAB7A-9A00-4A27-9FC2-8EA686644F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090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5AF25F-0359-84DA-658F-503AA5F3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794ED63-5821-E86B-4355-94E604D79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89F2-4CCC-4562-B82C-29005BBE570D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FED2EDA-BB2C-A462-6D80-B266CB5B3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14C4F02-71B1-CB99-22EC-31B341E77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CAB7A-9A00-4A27-9FC2-8EA686644F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2778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115ED1D-0DBA-9405-FD50-6100BCFDE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89F2-4CCC-4562-B82C-29005BBE570D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82D3EA7-4E9F-06A5-3B98-0C6991E61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12C8468-2BB8-B1DF-950C-FEE7BABB9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CAB7A-9A00-4A27-9FC2-8EA686644F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7904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4C8A85-C758-D065-D6E4-6339AE19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E406A9-8885-DB9C-76BF-D62A7551D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CE8CEC0-4F51-F3F5-86ED-DC6CB9B2CD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DBC1150-4A1B-000E-3E0B-FB2D7CF97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89F2-4CCC-4562-B82C-29005BBE570D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2FCCD54-C77E-BB0F-587B-54ECBCBC0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401EEC6-A80A-D003-F66D-BC1522A34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CAB7A-9A00-4A27-9FC2-8EA686644F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7026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9A01E0-60B9-2B3F-98CB-B826649E9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9494D1F-F59A-8A0C-257E-463F5F756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6DB2AD9-346D-857B-A8BD-D10D7A89F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B09FBB7-AEB3-4880-12D8-287051C38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89F2-4CCC-4562-B82C-29005BBE570D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2C2216F-0171-544B-60D9-28B97E3D9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495F720-E166-43C2-481F-0942BCFF6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CAB7A-9A00-4A27-9FC2-8EA686644F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6769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CF6979-3DBA-0746-BD27-77AD49993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7DB595A-AA65-A8C4-68CD-26A116B6E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8CEF2D-7D48-413D-0A7A-F6AECDEAE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89F2-4CCC-4562-B82C-29005BBE570D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6AA78F1-7D11-D741-043F-D2F7BA71F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1C5F039-062D-C166-4925-B19338D89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CAB7A-9A00-4A27-9FC2-8EA686644F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0870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1D7D0F2-23B2-1BF2-CC74-60283EF57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5995046-03BC-659C-554A-936518658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5E40354-797F-4C28-C75E-07A3CD097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89F2-4CCC-4562-B82C-29005BBE570D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9E69975-4843-2836-D562-A868A6A14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CD4B991-319C-BAEF-877A-C4572B34F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CAB7A-9A00-4A27-9FC2-8EA686644F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3473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909B300-CA48-31CD-36B4-BCDF47B71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2E1D45F-2274-C9C2-5EBD-48F185C77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EF0178F-0E08-5AF8-C423-FE6930ECE3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E389F2-4CCC-4562-B82C-29005BBE570D}" type="datetimeFigureOut">
              <a:rPr lang="it-IT" smtClean="0"/>
              <a:t>17/06/2026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44F1132-E9C8-89B5-7902-CD23D6B57B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70EC65-90DD-6137-93AE-E863254CC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CAB7A-9A00-4A27-9FC2-8EA686644F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3365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9031D2-17E9-EC09-B930-A1D8694C0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806" y="796412"/>
            <a:ext cx="12044516" cy="2261420"/>
          </a:xfrm>
        </p:spPr>
        <p:txBody>
          <a:bodyPr>
            <a:noAutofit/>
          </a:bodyPr>
          <a:lstStyle/>
          <a:p>
            <a:r>
              <a:rPr lang="it-IT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TRACCE DIGITALI DI UNA STORIA PERSONALE</a:t>
            </a:r>
            <a:br>
              <a:rPr lang="it-IT" sz="4000" dirty="0"/>
            </a:br>
            <a:br>
              <a:rPr lang="it-IT" sz="4000" dirty="0"/>
            </a:br>
            <a:r>
              <a:rPr lang="it-IT" sz="2800" b="1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ANALISI DEI METADATI INSTAGRAM DAL 2014 AL 2026</a:t>
            </a:r>
            <a:br>
              <a:rPr lang="it-IT" sz="3600" dirty="0"/>
            </a:br>
            <a:endParaRPr lang="it-IT" sz="2800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2911D05-B0D0-BE65-133E-1C2B164BD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23904"/>
            <a:ext cx="9144000" cy="1655762"/>
          </a:xfrm>
        </p:spPr>
        <p:txBody>
          <a:bodyPr>
            <a:normAutofit/>
          </a:bodyPr>
          <a:lstStyle/>
          <a:p>
            <a:r>
              <a:rPr lang="it-IT" sz="2800" dirty="0"/>
              <a:t>Rebecca Marianini</a:t>
            </a:r>
          </a:p>
          <a:p>
            <a:r>
              <a:rPr lang="it-IT" dirty="0"/>
              <a:t>MATRICOLA : </a:t>
            </a:r>
            <a:r>
              <a:rPr lang="it-IT" sz="2800" dirty="0"/>
              <a:t>179905 IBML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2042EA3-6489-FEC3-8AB6-FCF273DE9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194" y="3289130"/>
            <a:ext cx="749873" cy="749873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5D61970D-B789-D766-048F-8E32028016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6" t="6341" r="8077" b="7956"/>
          <a:stretch>
            <a:fillRect/>
          </a:stretch>
        </p:blipFill>
        <p:spPr>
          <a:xfrm>
            <a:off x="6490856" y="3289130"/>
            <a:ext cx="749873" cy="768208"/>
          </a:xfrm>
          <a:prstGeom prst="roundRect">
            <a:avLst/>
          </a:prstGeom>
        </p:spPr>
      </p:pic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EC83BFB8-AD84-A094-98CD-48CB70A718A9}"/>
              </a:ext>
            </a:extLst>
          </p:cNvPr>
          <p:cNvSpPr/>
          <p:nvPr/>
        </p:nvSpPr>
        <p:spPr>
          <a:xfrm>
            <a:off x="5892869" y="3584943"/>
            <a:ext cx="406261" cy="2152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3885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68B81212-A122-8BF7-2B1E-54D459E8584E}"/>
              </a:ext>
            </a:extLst>
          </p:cNvPr>
          <p:cNvSpPr txBox="1"/>
          <p:nvPr/>
        </p:nvSpPr>
        <p:spPr>
          <a:xfrm>
            <a:off x="2542606" y="423232"/>
            <a:ext cx="682022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 UTILIZZATO</a:t>
            </a:r>
          </a:p>
          <a:p>
            <a:pPr algn="ctr"/>
            <a:endParaRPr lang="it-IT" sz="2400" dirty="0"/>
          </a:p>
          <a:p>
            <a:pPr algn="ctr"/>
            <a:endParaRPr lang="it-IT" sz="2400" dirty="0"/>
          </a:p>
          <a:p>
            <a:endParaRPr lang="it-IT" sz="36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7C6077B-6AE5-6488-7734-24456C589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650" y="1564819"/>
            <a:ext cx="2302081" cy="93568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61619691-70C7-8AE8-2685-ECA1A4364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027" y="2561223"/>
            <a:ext cx="3222704" cy="2468344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2F7F1E58-2C50-06CB-931B-42B8778EDDAC}"/>
              </a:ext>
            </a:extLst>
          </p:cNvPr>
          <p:cNvSpPr txBox="1"/>
          <p:nvPr/>
        </p:nvSpPr>
        <p:spPr>
          <a:xfrm>
            <a:off x="1414462" y="1600477"/>
            <a:ext cx="724746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FONTE : </a:t>
            </a:r>
            <a:r>
              <a:rPr lang="it-IT" sz="2400" dirty="0"/>
              <a:t>Esportazione dati Instagram </a:t>
            </a:r>
          </a:p>
          <a:p>
            <a:endParaRPr lang="it-IT" sz="2400" dirty="0"/>
          </a:p>
          <a:p>
            <a:r>
              <a:rPr lang="it-IT" sz="2000" dirty="0"/>
              <a:t>PERIODO:  </a:t>
            </a:r>
            <a:r>
              <a:rPr lang="it-IT" sz="2400" dirty="0"/>
              <a:t>Dal 2014 al 2026 </a:t>
            </a:r>
          </a:p>
          <a:p>
            <a:endParaRPr lang="it-IT" sz="2000" dirty="0"/>
          </a:p>
          <a:p>
            <a:r>
              <a:rPr lang="it-IT" sz="2000" dirty="0"/>
              <a:t>ELEMENTI ANALIZZATI: </a:t>
            </a:r>
          </a:p>
          <a:p>
            <a:endParaRPr lang="it-I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/>
              <a:t>Messaggi diretti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/>
              <a:t>Like ai post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/>
              <a:t>Post salvati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 dirty="0"/>
              <a:t>Follower acquisiti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FC771A6-D2FF-A8A4-F03E-15B100CF167F}"/>
              </a:ext>
            </a:extLst>
          </p:cNvPr>
          <p:cNvSpPr txBox="1"/>
          <p:nvPr/>
        </p:nvSpPr>
        <p:spPr>
          <a:xfrm>
            <a:off x="917573" y="5924737"/>
            <a:ext cx="103568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12 anni di attività  •  oltre 100.000 messaggi  •  circa 20.000 follower  •  migliaia di interazioni</a:t>
            </a:r>
          </a:p>
        </p:txBody>
      </p:sp>
    </p:spTree>
    <p:extLst>
      <p:ext uri="{BB962C8B-B14F-4D97-AF65-F5344CB8AC3E}">
        <p14:creationId xmlns:p14="http://schemas.microsoft.com/office/powerpoint/2010/main" val="244677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03EB2C8F-B58E-D466-53DC-87A8CBF22467}"/>
              </a:ext>
            </a:extLst>
          </p:cNvPr>
          <p:cNvSpPr txBox="1"/>
          <p:nvPr/>
        </p:nvSpPr>
        <p:spPr>
          <a:xfrm>
            <a:off x="1476376" y="1343025"/>
            <a:ext cx="1291590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COME SI EVOLVE L’ATTIVITA’ DI MESSAGGISTICA SU INSTAGRAM NEL CORSO DEGLI ANNI?</a:t>
            </a:r>
          </a:p>
          <a:p>
            <a:endParaRPr lang="it-IT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it-IT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it-IT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it-IT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 METADATI POSSONO RIVELARE EVENTI COLLETTIVI O CAMBIAMENTI INDIVIDUALI?</a:t>
            </a:r>
          </a:p>
          <a:p>
            <a:endParaRPr lang="it-IT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it-IT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it-IT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it-IT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COME SI E’ EVOLUTO L’UTILIZZO DELLA PIATTAFORMA OLTRE ALLA MESSAGGISTICA?</a:t>
            </a:r>
          </a:p>
          <a:p>
            <a:endParaRPr lang="it-IT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it-IT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it-IT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it-IT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PUBBLICARE DI PIU’ SIGNIFICA OTTENERE PIU’ FOLLOWERS?</a:t>
            </a:r>
          </a:p>
          <a:p>
            <a:endParaRPr lang="it-IT" dirty="0"/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3BD3CADF-4D68-A1BA-6337-19314091D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37" y="1230635"/>
            <a:ext cx="1009650" cy="673100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A1E139D2-4A95-441A-747D-E60D3DBA69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12" y="3587870"/>
            <a:ext cx="1133475" cy="755650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8706520F-8ABB-18A0-06D8-4A8DC718C9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23" y="2450080"/>
            <a:ext cx="1009649" cy="673099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9AAE276F-F1E8-13FF-CF39-7D5DAFD6A0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10" y="4807314"/>
            <a:ext cx="1133477" cy="755651"/>
          </a:xfrm>
          <a:prstGeom prst="rect">
            <a:avLst/>
          </a:prstGeom>
        </p:spPr>
      </p:pic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59695D7E-C9E6-1A3D-4E2A-3698B34CDC5F}"/>
              </a:ext>
            </a:extLst>
          </p:cNvPr>
          <p:cNvSpPr/>
          <p:nvPr/>
        </p:nvSpPr>
        <p:spPr>
          <a:xfrm>
            <a:off x="678662" y="1229738"/>
            <a:ext cx="11006126" cy="75565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96424421-0B8B-D8F9-7ED2-28583C14B1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168" y="2399499"/>
            <a:ext cx="11028620" cy="774259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ACFA96FD-9D30-D8BA-0B96-A510E70390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168" y="3578565"/>
            <a:ext cx="11028620" cy="774259"/>
          </a:xfrm>
          <a:prstGeom prst="rect">
            <a:avLst/>
          </a:prstGeom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CC78CE1B-D1C8-17A9-86E2-203D26F31C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168" y="4807314"/>
            <a:ext cx="11028620" cy="7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822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C1CED299-E514-5C5F-97F8-1584D5E9F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06"/>
          <a:stretch>
            <a:fillRect/>
          </a:stretch>
        </p:blipFill>
        <p:spPr>
          <a:xfrm>
            <a:off x="1993952" y="1245084"/>
            <a:ext cx="8204095" cy="436783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81736EC-DA4C-D8AD-08E1-BB2A3C40BE52}"/>
              </a:ext>
            </a:extLst>
          </p:cNvPr>
          <p:cNvSpPr txBox="1"/>
          <p:nvPr/>
        </p:nvSpPr>
        <p:spPr>
          <a:xfrm>
            <a:off x="133350" y="486370"/>
            <a:ext cx="12306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COME SI EVOLVE L’ATTIVITA’ DI MESSAGGISTICA SU INSTAGRAM NEL CORSO DEGLI ANNI?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9FE1FAE-19EE-40CA-0030-8F84E2D0E87D}"/>
              </a:ext>
            </a:extLst>
          </p:cNvPr>
          <p:cNvSpPr txBox="1"/>
          <p:nvPr/>
        </p:nvSpPr>
        <p:spPr>
          <a:xfrm>
            <a:off x="190500" y="5822969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✓ L'andamento della messaggistica non segue una crescita costante, ma presenta picchi e cali significativi.</a:t>
            </a:r>
          </a:p>
          <a:p>
            <a:endParaRPr lang="it-IT" dirty="0"/>
          </a:p>
          <a:p>
            <a:r>
              <a:rPr lang="it-IT" dirty="0"/>
              <a:t>✓ Queste variazioni suggeriscono la presenza di fattori esterni e personali che verranno analizzati nelle slide successive</a:t>
            </a:r>
          </a:p>
        </p:txBody>
      </p:sp>
    </p:spTree>
    <p:extLst>
      <p:ext uri="{BB962C8B-B14F-4D97-AF65-F5344CB8AC3E}">
        <p14:creationId xmlns:p14="http://schemas.microsoft.com/office/powerpoint/2010/main" val="1489660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55137681-26DD-296B-342B-BFE52E9F7E69}"/>
              </a:ext>
            </a:extLst>
          </p:cNvPr>
          <p:cNvSpPr txBox="1"/>
          <p:nvPr/>
        </p:nvSpPr>
        <p:spPr>
          <a:xfrm>
            <a:off x="409575" y="175997"/>
            <a:ext cx="11623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I METADATI POSSONO RIVELARE EVENTI COLLETTIVI O CAMBIAMENTI INDIVIDUALI?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6577769-3950-80F2-292B-4063DD03C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" t="12238" r="6099" b="8257"/>
          <a:stretch>
            <a:fillRect/>
          </a:stretch>
        </p:blipFill>
        <p:spPr>
          <a:xfrm>
            <a:off x="2359675" y="746427"/>
            <a:ext cx="7472647" cy="4275667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2C22ABF1-529E-179D-66FB-157D5CFF02E6}"/>
              </a:ext>
            </a:extLst>
          </p:cNvPr>
          <p:cNvSpPr txBox="1"/>
          <p:nvPr/>
        </p:nvSpPr>
        <p:spPr>
          <a:xfrm>
            <a:off x="1493386" y="5076476"/>
            <a:ext cx="115939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✓  Picco di attività nel mese di aprile 2020</a:t>
            </a:r>
          </a:p>
          <a:p>
            <a:r>
              <a:rPr lang="it-IT" sz="2000" dirty="0"/>
              <a:t>✓  Riduzione dell'attività nel periodo successivo</a:t>
            </a:r>
          </a:p>
          <a:p>
            <a:r>
              <a:rPr lang="it-IT" sz="2000" dirty="0"/>
              <a:t>✓  Progressiva ripresa a luglio 2022</a:t>
            </a:r>
          </a:p>
          <a:p>
            <a:r>
              <a:rPr lang="it-IT" sz="2000" dirty="0"/>
              <a:t>✓I metadati evidenziano pattern compatibili con dinamiche sociali e abitudini personali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4C7E105-0C16-DF6D-B6B9-565908F91235}"/>
              </a:ext>
            </a:extLst>
          </p:cNvPr>
          <p:cNvSpPr txBox="1"/>
          <p:nvPr/>
        </p:nvSpPr>
        <p:spPr>
          <a:xfrm>
            <a:off x="1696810" y="6454298"/>
            <a:ext cx="9048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i="1" dirty="0"/>
              <a:t>LA DIMINUZIONE DELL’ INVIO DI MESSAGGI RAPPRESENTA DAVVERO UN MINOR UTILIZZO DELLA PIATTAFORMA?</a:t>
            </a:r>
          </a:p>
        </p:txBody>
      </p:sp>
    </p:spTree>
    <p:extLst>
      <p:ext uri="{BB962C8B-B14F-4D97-AF65-F5344CB8AC3E}">
        <p14:creationId xmlns:p14="http://schemas.microsoft.com/office/powerpoint/2010/main" val="3478857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DD6819F0-BBB9-4E53-518D-67C64AC17A6C}"/>
              </a:ext>
            </a:extLst>
          </p:cNvPr>
          <p:cNvSpPr txBox="1"/>
          <p:nvPr/>
        </p:nvSpPr>
        <p:spPr>
          <a:xfrm>
            <a:off x="204784" y="99416"/>
            <a:ext cx="11782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COME SI E’ EVOLUTO L’UTILIZZO DELLA PIATTAFORMA OLTRE ALLA MESSAGGISTICA?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8A822B6-31B5-215A-39BD-C3F4C5E75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" r="933"/>
          <a:stretch>
            <a:fillRect/>
          </a:stretch>
        </p:blipFill>
        <p:spPr>
          <a:xfrm>
            <a:off x="84362" y="645804"/>
            <a:ext cx="5889257" cy="3417222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317FBE02-7C5A-C77E-E560-35AD4361EB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6" y="645805"/>
            <a:ext cx="6011635" cy="3417221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4DB23FB5-07D8-066E-F946-1C4038137256}"/>
              </a:ext>
            </a:extLst>
          </p:cNvPr>
          <p:cNvSpPr txBox="1"/>
          <p:nvPr/>
        </p:nvSpPr>
        <p:spPr>
          <a:xfrm>
            <a:off x="168728" y="4373891"/>
            <a:ext cx="120232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✓ Il 2021 rappresenta il punto di minima attività complessiva dell'intera serie storica</a:t>
            </a:r>
          </a:p>
          <a:p>
            <a:endParaRPr lang="it-IT" dirty="0"/>
          </a:p>
          <a:p>
            <a:r>
              <a:rPr lang="it-IT" dirty="0"/>
              <a:t>✓La riduzione della messaggistica non coincide necessariamente con una diminuzione dell'utilizzo della piattaforma</a:t>
            </a:r>
          </a:p>
          <a:p>
            <a:endParaRPr lang="it-IT" dirty="0"/>
          </a:p>
          <a:p>
            <a:r>
              <a:rPr lang="it-IT" dirty="0"/>
              <a:t>✓ La ripresa della messaggistica nel 2022 non coincide immediatamente con una ripresa delle altre forme di interazione</a:t>
            </a:r>
          </a:p>
          <a:p>
            <a:endParaRPr lang="it-IT" dirty="0"/>
          </a:p>
          <a:p>
            <a:r>
              <a:rPr lang="it-IT" dirty="0"/>
              <a:t>✓ Nel biennio 2024-2025 si registra una crescita simultanea delle principali metriche analizzate</a:t>
            </a:r>
          </a:p>
        </p:txBody>
      </p:sp>
    </p:spTree>
    <p:extLst>
      <p:ext uri="{BB962C8B-B14F-4D97-AF65-F5344CB8AC3E}">
        <p14:creationId xmlns:p14="http://schemas.microsoft.com/office/powerpoint/2010/main" val="1871767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33451175-74CF-F051-94D2-BB2CB36B7B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7" r="598"/>
          <a:stretch>
            <a:fillRect/>
          </a:stretch>
        </p:blipFill>
        <p:spPr>
          <a:xfrm>
            <a:off x="6204857" y="1234484"/>
            <a:ext cx="5762627" cy="3036798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100DDAD-7621-BBBA-F66E-B4A0B5525C2C}"/>
              </a:ext>
            </a:extLst>
          </p:cNvPr>
          <p:cNvSpPr txBox="1"/>
          <p:nvPr/>
        </p:nvSpPr>
        <p:spPr>
          <a:xfrm>
            <a:off x="1777788" y="387805"/>
            <a:ext cx="8854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dirty="0"/>
              <a:t>PUBBLICARE DI PIU’ SIGNIFICA OTTENERE PIU’ FOLLOWERS?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92F30E1-E86B-CF5B-59FD-DF06A342851E}"/>
              </a:ext>
            </a:extLst>
          </p:cNvPr>
          <p:cNvSpPr txBox="1"/>
          <p:nvPr/>
        </p:nvSpPr>
        <p:spPr>
          <a:xfrm>
            <a:off x="257175" y="4438870"/>
            <a:ext cx="1158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  <a:p>
            <a:r>
              <a:rPr lang="it-IT" dirty="0"/>
              <a:t>✓ Gli anni con il maggior numero di post non corrispondono agli anni di maggiore crescita del profilo</a:t>
            </a:r>
          </a:p>
          <a:p>
            <a:endParaRPr lang="it-IT" dirty="0"/>
          </a:p>
          <a:p>
            <a:r>
              <a:rPr lang="it-IT" dirty="0"/>
              <a:t>✓ Il picco di acquisizione dei follower si registra nel 2025-2026, nonostante la pubblicazione di pochi contenuti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D68B374C-B9F3-4BBC-555D-BE0973BCAB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9" y="1234485"/>
            <a:ext cx="6015652" cy="303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595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F323C514-E287-4544-1E50-DCB6BE1C61D7}"/>
              </a:ext>
            </a:extLst>
          </p:cNvPr>
          <p:cNvSpPr txBox="1"/>
          <p:nvPr/>
        </p:nvSpPr>
        <p:spPr>
          <a:xfrm>
            <a:off x="4246389" y="149625"/>
            <a:ext cx="3699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/>
              <a:t>CONCLUSIONI </a:t>
            </a:r>
            <a:r>
              <a:rPr lang="it-IT" sz="2400" dirty="0"/>
              <a:t>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3648072-BECD-0F98-382E-4CF855B8FF01}"/>
              </a:ext>
            </a:extLst>
          </p:cNvPr>
          <p:cNvSpPr txBox="1"/>
          <p:nvPr/>
        </p:nvSpPr>
        <p:spPr>
          <a:xfrm>
            <a:off x="255638" y="652525"/>
            <a:ext cx="116807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Nel mio caso l’analisi </a:t>
            </a:r>
            <a:r>
              <a:rPr lang="it-IT" sz="2000"/>
              <a:t>del Dataset </a:t>
            </a:r>
            <a:r>
              <a:rPr lang="it-IT" sz="2000" dirty="0"/>
              <a:t>rivela eventi collettivi e cambiamenti individuali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Il calo di messaggistica non corrisponde realmente al non utilizzo della piattaforma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I picchi di interazioni generali corrispondono ad un effettivo aumento dei followers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Simultaneamente non è esclusivamente il quantitativo di contenuti pubblicati a fare la differenza ma la qualità dei post sembra essere associata a una maggiore acquisizione di followers</a:t>
            </a:r>
          </a:p>
          <a:p>
            <a:endParaRPr lang="it-I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B579B84-F681-9E27-6178-DE3224104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065" y="3978296"/>
            <a:ext cx="2979868" cy="2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5506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9AEA06781D8F24FBD693392724D0656" ma:contentTypeVersion="4" ma:contentTypeDescription="Creare un nuovo documento." ma:contentTypeScope="" ma:versionID="f6714d83313bfb95634d92625086968d">
  <xsd:schema xmlns:xsd="http://www.w3.org/2001/XMLSchema" xmlns:xs="http://www.w3.org/2001/XMLSchema" xmlns:p="http://schemas.microsoft.com/office/2006/metadata/properties" xmlns:ns3="e8e17f5b-ad2f-4244-ad69-09c28d6a1c1e" targetNamespace="http://schemas.microsoft.com/office/2006/metadata/properties" ma:root="true" ma:fieldsID="b9d8f4920c2f619c82799f0c4989cb9f" ns3:_="">
    <xsd:import namespace="e8e17f5b-ad2f-4244-ad69-09c28d6a1c1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e17f5b-ad2f-4244-ad69-09c28d6a1c1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8AB0E77-0BA0-49AB-BBD2-FEBA07673A8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2A722D-0F8E-4AAD-90EE-A4C58E0C7D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e17f5b-ad2f-4244-ad69-09c28d6a1c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A968A1B-F09D-4D90-8199-E6C14F6BE0B4}">
  <ds:schemaRefs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purl.org/dc/dcmitype/"/>
    <ds:schemaRef ds:uri="http://www.w3.org/XML/1998/namespace"/>
    <ds:schemaRef ds:uri="http://schemas.microsoft.com/office/2006/documentManagement/types"/>
    <ds:schemaRef ds:uri="http://purl.org/dc/terms/"/>
    <ds:schemaRef ds:uri="e8e17f5b-ad2f-4244-ad69-09c28d6a1c1e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7449</TotalTime>
  <Words>397</Words>
  <Application>Microsoft Office PowerPoint</Application>
  <PresentationFormat>Widescreen</PresentationFormat>
  <Paragraphs>64</Paragraphs>
  <Slides>8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di Office</vt:lpstr>
      <vt:lpstr>TRACCE DIGITALI DI UNA STORIA PERSONALE  ANALISI DEI METADATI INSTAGRAM DAL 2014 AL 2026 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Rebecca Marianini</dc:creator>
  <cp:lastModifiedBy>Rebecca Marianini</cp:lastModifiedBy>
  <cp:revision>2</cp:revision>
  <dcterms:created xsi:type="dcterms:W3CDTF">2026-06-06T16:51:25Z</dcterms:created>
  <dcterms:modified xsi:type="dcterms:W3CDTF">2026-06-18T19:46:45Z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0x010100D9AEA06781D8F24FBD693392724D0656</vt:lpwstr>
  </property>
</Properties>
</file>